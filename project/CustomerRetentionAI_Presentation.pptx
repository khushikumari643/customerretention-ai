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398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18288"/>
          </a:xfrm>
          <a:prstGeom prst="rect">
            <a:avLst/>
          </a:prstGeom>
          <a:solidFill>
            <a:srgbClr val="CADCFC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Retention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System for Telecom Customer Churn Prediction, Diagnosis, Categorization &amp; Subscription Recommendation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Khushi Kumari  |  M.Sc. Computer Science 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453896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61872" y="1764792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matters and what problem this project solves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1872" y="2231136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/ Existing Systems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61872" y="2542032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churn is typically handled today, and the gap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1872" y="3008376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 &amp; Methodology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61872" y="3319272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pipeline, models, and system 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3785616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61872" y="4096512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technologies, and how the app was built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61872" y="4562856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Evaluation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61872" y="4873752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scores, live app screenshots, comparisons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457200" cy="457200"/>
          </a:xfrm>
          <a:prstGeom prst="ellipse">
            <a:avLst/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008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61872" y="5340096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261872" y="5650992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 and what's next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D8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 churn is a business-critical problem for telecom providers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Churn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498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a customer costs 5–7x more than keeping one — churn directly eats into revenue.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customers can switch providers easily, so competition for loyalty is constant.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generate huge amounts of customer data — but most of it goes unused for prediction.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approach: wait for a customer to cancel, then offer a discount. Too late, too generic.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approach (this project): predict who's at risk before they leave, explain why, and offer the right fix.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10312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38160" y="25603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5–7x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0" y="3794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to acquire a new customer than to keep an existing one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6591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In Three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D8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likely to leave?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8404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don't know until it's too late.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343400" y="19659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D8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they leaving?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8404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Price? Bad service? A competitor's offer? No one asks.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46720" y="19659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D8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7532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offer instead?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38404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teams often give generic discounts, not a real fix.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498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a real telecom dataset of 6,418 customers for machine learning.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multiple ML models to predict which customers will churn.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customer is at risk, not just give a probability score.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 into categories (High-Risk, Loyal, Premium-Ready, etc.) for targeted action.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 best subscription plan to keep an at-risk customer happy.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everything into one easy-to-use </a:t>
            </a:r>
            <a:r>
              <a:rPr lang="en-US" sz="150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 application.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10312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38160" y="25603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0" y="3794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objectives — from data cleaning to a deployed, working app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D8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/ Existing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churn prediction and retention are typically approached today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Churn Is Usually Handled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498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statistics (Logistic Regression) — easy to understand, but misses complex patterns.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systems use tree-based models like Random Forest and XGBoost for better accuracy.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react only after a cancellation request — the 'save desk' model.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is usually done separately using basic rules or manual clustering.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 are common in shopping apps, but rarely used for retention offers.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10312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38160" y="25603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0" y="3794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today that combine prediction + diagnosis + recommendation in one tool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— and How This Project Closes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0120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Existing Systems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churn only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 of 'why'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done separately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connected retention offer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46520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CustomerRetention AI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51460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churn AND explains why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the likely reason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customers automatically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a specific plan to retain them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D8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Architecture &amp; 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four-part intelligent web application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How Data Flows Through the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8096" y="237744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68096" y="23774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Telecom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(CSV)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42616" y="3063240"/>
            <a:ext cx="320040" cy="0"/>
          </a:xfrm>
          <a:prstGeom prst="line">
            <a:avLst/>
          </a:prstGeom>
          <a:noFill/>
          <a:ln w="19050">
            <a:solidFill>
              <a:srgbClr val="5A60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962656" y="237744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962656" y="23774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37176" y="3063240"/>
            <a:ext cx="320040" cy="0"/>
          </a:xfrm>
          <a:prstGeom prst="line">
            <a:avLst/>
          </a:prstGeom>
          <a:noFill/>
          <a:ln w="19050">
            <a:solidFill>
              <a:srgbClr val="5A60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157216" y="237744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57216" y="23774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algorithms per task)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31736" y="3063240"/>
            <a:ext cx="320040" cy="0"/>
          </a:xfrm>
          <a:prstGeom prst="line">
            <a:avLst/>
          </a:prstGeom>
          <a:noFill/>
          <a:ln w="19050">
            <a:solidFill>
              <a:srgbClr val="5A60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351776" y="237744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3D8BF2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51776" y="23774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&amp; Saved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26296" y="3063240"/>
            <a:ext cx="320040" cy="0"/>
          </a:xfrm>
          <a:prstGeom prst="line">
            <a:avLst/>
          </a:prstGeom>
          <a:noFill/>
          <a:ln w="19050">
            <a:solidFill>
              <a:srgbClr val="5A60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546336" y="237744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546336" y="23774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7280" y="42976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follows a complete data-science lifecycle: business understanding → data cleaning → feature engineering → model training &amp; comparison → live web app.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80136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6,418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86207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91840" y="180136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86207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Attributes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0" y="180136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286207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9536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595360" y="180136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686800" y="286207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Groups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(Stayed / Churned / Joined)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Age, Gender, Marital Status, State, Referrals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Internet type, phone lines, streaming and security add-ons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Contract type, monthly charge, total revenue, payment method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Customer status, churn category, churn reason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498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filled using business logic, not guesses — e.g. no internet service = 'No' for add-ons, not blank.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data-entry errors, like negative monthly charges (replaced with the median).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13 new features, including: Tenure Bucket, Total Add-on Services, Average Monthly Revenue, and High Spender flag.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two new target labels: Churn Label (will they leave?) and Customer Category (what type of customer are they?).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37 clean, model-ready features from the original 32 raw columns.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10312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38160" y="25603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0" y="3794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engineered features added on top of the original 32 columns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Exploratory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is the #1 churn signal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1671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46.5% vs just 2.7% for Two-Year contracts.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highest early 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33558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peaks around 7–12 months, then steadily declines with tenure.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are the top reason customers leave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454456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43.9% of churned customers left for a competitor — more than price (11.3%).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add-ons = more loyalty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57332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3+ active services churn far less than those with 0–1.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Churn &amp; Categorizing Customers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498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Prediction: a Yes/No question — will this customer leave? Trained 3 algorithms and picked the best.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Categorization: a 4-way question — is this customer High-Risk, Medium-Risk, Loyal, or Premium-Ready? Also trained 3 algorithms.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fair process for both: 80% of data used for training, 20% held back for testing.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(fewer churners than stayers) handled using balanced class weighting, not fake synthetic data.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model was trained only on churned customers, to guess the likely reason they left.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10312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38160" y="25603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3+3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0" y="3794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compared for churn prediction and for customer categorization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Recommending the Right Subscription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498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dataset had no subscription catalogue — so a custom one was built by hand: 52 example cases mapped to 26 real plan options.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 directly addresses a real complaint type, e.g. a 'Value Saver' plan for price-sensitive customers.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algorithm (Random Forest) does two jobs: picks the best plan, and estimates its price.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catalogue is small, 5-fold cross-validation was used to get a fair, reliable score.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test (Chi-Squared) confirmed the complaint really does drive the recommendation — not random chance.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10312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38160" y="25603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0" y="3794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subscription plans in the custom recommendation catalogue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D8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Details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tools, technologies, and code behind the system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880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(statistics)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617720" y="1920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514600"/>
            <a:ext cx="2880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Graph Objects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 &amp; gauges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21040" y="1920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514600"/>
            <a:ext cx="2880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(web app)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(model saving)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Single-process Python app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865376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06240" y="1865376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explainable baseline — shows which features push risk up or down.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35808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3163824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3163824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decision trees voting together — handles complex, real-world patterns well.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334256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446227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4462272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built one after another, each fixing the last one's mistakes — very strong performance.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algorithms were trained on the same data split and compared side by side — the best one (by multiple metrics) was chosen for the live app.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App — Four Working Sections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773936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&amp; Diagnosis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61872" y="2084832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or enter a customer → see churn probability + reasons why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1872" y="2734056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Categorization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61872" y="3044952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retention category a customer falls into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1872" y="3694176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61872" y="4005072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best subscription plan for that customer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4654296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61872" y="4965192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churn, revenue, and subscription trends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All Together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498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trained models are saved as .pkl files using Joblib — loaded once when the app starts.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Streamlit's caching keeps the app fast even with multiple predictions per session.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 lets users switch between all 4 sections without reloading.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supports two modes: pick an existing customer, or type in a new profile.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one single, easy-to-use application — not four separate scripts or spreadsheets.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10312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38160" y="25603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4-in-1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0" y="3794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diagnose, categorize, and recommend — all in one deployed Streamlit app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D8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Performance Evaluation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models actually performed — and what the live app looks like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Prediction — Live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84647" y="1344168"/>
            <a:ext cx="9419658" cy="4672584"/>
          </a:xfrm>
          <a:prstGeom prst="roundRect">
            <a:avLst>
              <a:gd name="adj" fmla="val 978"/>
            </a:avLst>
          </a:prstGeom>
          <a:solidFill>
            <a:srgbClr val="F4F7FC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/images/churn_u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799" y="1417320"/>
            <a:ext cx="9273354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customer scored at 46.3% churn probability, with top risk-driving factors shown alongside.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Prediction — Model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6791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645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29000" y="175564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26791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 — best)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175564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26791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(catches 3 in 4 churners)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1645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006840" y="175564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70.1%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98280" y="26791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(few false alarms)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3931920"/>
            <a:ext cx="10332720" cy="566928"/>
          </a:xfrm>
          <a:prstGeom prst="roundRect">
            <a:avLst>
              <a:gd name="adj" fmla="val 6452"/>
            </a:avLst>
          </a:prstGeom>
          <a:solidFill>
            <a:srgbClr val="FAFB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05840" y="393192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39319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0" y="39319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4764" y="4590288"/>
            <a:ext cx="10332720" cy="566928"/>
          </a:xfrm>
          <a:prstGeom prst="roundRect">
            <a:avLst>
              <a:gd name="adj" fmla="val 6452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1005840" y="459028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(Best model)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459028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0" y="459028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5248656"/>
            <a:ext cx="10332720" cy="566928"/>
          </a:xfrm>
          <a:prstGeom prst="roundRect">
            <a:avLst>
              <a:gd name="adj" fmla="val 6452"/>
            </a:avLst>
          </a:prstGeom>
          <a:solidFill>
            <a:srgbClr val="FAFB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05840" y="524865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52486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83.5%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03920" y="52486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0.890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Categorization — Live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23307" y="1344168"/>
            <a:ext cx="8742339" cy="4672584"/>
          </a:xfrm>
          <a:prstGeom prst="roundRect">
            <a:avLst>
              <a:gd name="adj" fmla="val 978"/>
            </a:avLst>
          </a:prstGeom>
          <a:solidFill>
            <a:srgbClr val="F4F7FC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/images/category_u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459" y="1417320"/>
            <a:ext cx="8596035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78-year-old customer with high revenue and a One-Year contract is classified 'Premium-Ready' at 87% confidence.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Categorization — Model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023360" y="1920240"/>
            <a:ext cx="6035040" cy="822960"/>
          </a:xfrm>
          <a:prstGeom prst="roundRect">
            <a:avLst>
              <a:gd name="adj" fmla="val 4444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23360" y="1920240"/>
            <a:ext cx="4284878" cy="82296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45398" y="19202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23360" y="3246120"/>
            <a:ext cx="6035040" cy="822960"/>
          </a:xfrm>
          <a:prstGeom prst="roundRect">
            <a:avLst>
              <a:gd name="adj" fmla="val 4444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023360" y="3246120"/>
            <a:ext cx="4634911" cy="82296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795431" y="32461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(Best model)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023360" y="4572000"/>
            <a:ext cx="6035040" cy="822960"/>
          </a:xfrm>
          <a:prstGeom prst="roundRect">
            <a:avLst>
              <a:gd name="adj" fmla="val 4444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023360" y="4572000"/>
            <a:ext cx="4900452" cy="822960"/>
          </a:xfrm>
          <a:prstGeom prst="roundRect">
            <a:avLst>
              <a:gd name="adj" fmla="val 4444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060972" y="45720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 on both tasks — tree-based ensembles capture the real, non-linear patterns in customer behavior far better than a simple linear model.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 — Live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84777" y="1344168"/>
            <a:ext cx="8419398" cy="4672584"/>
          </a:xfrm>
          <a:prstGeom prst="roundRect">
            <a:avLst>
              <a:gd name="adj" fmla="val 978"/>
            </a:avLst>
          </a:prstGeom>
          <a:solidFill>
            <a:srgbClr val="F4F7FC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/images/recommend_u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929" y="1417320"/>
            <a:ext cx="8273094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'Competitor' complaint customer is matched to the 'VIP Support Plan' ($50/mo), with 5 ranked alternatives shown.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— Live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11120" y="1344168"/>
            <a:ext cx="9366711" cy="4672584"/>
          </a:xfrm>
          <a:prstGeom prst="roundRect">
            <a:avLst>
              <a:gd name="adj" fmla="val 978"/>
            </a:avLst>
          </a:prstGeom>
          <a:solidFill>
            <a:srgbClr val="F4F7FC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/images/dashboard_u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272" y="1417320"/>
            <a:ext cx="9220407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6,418 customers | 27.0% churn rate | $19.47M total revenue — explored live via filterable Plotly charts.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Achieved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6791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ROC-AUC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(target: 0.85)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251960" y="175564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43400" y="26791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 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(target: 75%)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16459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863840" y="175564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955280" y="26791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Complaint–Plan Link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(highly significant)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607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pipeline: business understanding → cleaning → modeling → deployment.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was the best model for both churn prediction and customer categorization.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goals delivered in one working app: predict, diagnose, categorize, recommend.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 target set at the start of the project was met or exceeded.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signup dates for true month-by-month trend tracking.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recommendation catalogue using real retention-offer outcomes.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explanations for fully personalized, per-customer reasoning.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live CRM/billing system for real-time scoring.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the cloud with secure, role-based access for retention teams.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10515600" cy="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4937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5715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Khushi Kumari  |  CustomerRetention AI  |  M.Sc. Computer Science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1895</Words>
  <Application>Microsoft Office PowerPoint</Application>
  <PresentationFormat>Widescreen</PresentationFormat>
  <Paragraphs>325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khushi kumari</cp:lastModifiedBy>
  <cp:revision>6</cp:revision>
  <dcterms:created xsi:type="dcterms:W3CDTF">2026-08-16T17:37:27Z</dcterms:created>
  <dcterms:modified xsi:type="dcterms:W3CDTF">2026-08-17T17:51:28Z</dcterms:modified>
</cp:coreProperties>
</file>